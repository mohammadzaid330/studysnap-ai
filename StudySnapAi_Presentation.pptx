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371600"/>
            <a:ext cx="10728655" cy="4114800"/>
          </a:xfrm>
          <a:prstGeom prst="roundRect">
            <a:avLst/>
          </a:prstGeom>
          <a:solidFill>
            <a:srgbClr val="161624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37160" cy="4114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1440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0"/>
              </a:spcAft>
              <a:defRPr sz="1100" b="1">
                <a:solidFill>
                  <a:srgbClr val="06B6D4"/>
                </a:solidFill>
                <a:latin typeface="Segoe UI"/>
              </a:defRPr>
            </a:pPr>
            <a:r>
              <a:t>⚡ THE NEXT-GENERATION AI ASSISTANT FOR COLLEGE &amp; EXAMS</a:t>
            </a:r>
          </a:p>
          <a:p>
            <a:pPr>
              <a:spcAft>
                <a:spcPts val="1000"/>
              </a:spcAft>
              <a:defRPr sz="5600" b="1">
                <a:solidFill>
                  <a:srgbClr val="FFFFFF"/>
                </a:solidFill>
                <a:latin typeface="Segoe UI"/>
              </a:defRPr>
            </a:pPr>
            <a:r>
              <a:t>StudySnap AI</a:t>
            </a:r>
          </a:p>
          <a:p>
            <a:pPr>
              <a:spcAft>
                <a:spcPts val="4000"/>
              </a:spcAft>
              <a:defRPr sz="1800">
                <a:solidFill>
                  <a:srgbClr val="A0A6B2"/>
                </a:solidFill>
                <a:latin typeface="Segoe UI"/>
              </a:defRPr>
            </a:pPr>
            <a:r>
              <a:t>Transforming Dense Lectures &amp; Complex PDFs into Beautiful, Active Recall Exam Notes</a:t>
            </a:r>
          </a:p>
          <a:p>
            <a:pPr>
              <a:defRPr sz="1200" b="1">
                <a:solidFill>
                  <a:srgbClr val="6366F1"/>
                </a:solidFill>
                <a:latin typeface="Segoe UI"/>
              </a:defRPr>
            </a:pPr>
            <a:r>
              <a:t>Built with Next.js 16 • React 19 • Tailwind CSS v4 • Supabase Serverless Authentication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THE CORE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The Student Struggle: Information Overload &amp; Recall Gaps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4114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EF4444"/>
                </a:solidFill>
                <a:latin typeface="Segoe UI"/>
              </a:defRPr>
            </a:pPr>
            <a:r>
              <a:t>Traditional Study is Fragmented</a:t>
            </a:r>
          </a:p>
          <a:p>
            <a:pPr>
              <a:spcAft>
                <a:spcPts val="2400"/>
              </a:spcAft>
              <a:defRPr sz="1400">
                <a:solidFill>
                  <a:srgbClr val="A0A6B2"/>
                </a:solidFill>
                <a:latin typeface="Segoe UI"/>
              </a:defRPr>
            </a:pPr>
            <a:r>
              <a:t>Students are bombarded with media channels and raw texts, yet their college grades depend on structural recall and marks-wise formatting. Traditional tools focus strictly on passive extraction, leaving a large gap in active test prep.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840480"/>
            <a:ext cx="4114800" cy="2011680"/>
          </a:xfrm>
          <a:prstGeom prst="roundRect">
            <a:avLst/>
          </a:prstGeom>
          <a:solidFill>
            <a:srgbClr val="220F12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374903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EF4444"/>
                </a:solidFill>
                <a:latin typeface="Segoe UI"/>
              </a:defRPr>
            </a:pPr>
            <a:r>
              <a:t>🚨 Cognitive Debt Example:</a:t>
            </a:r>
          </a:p>
          <a:p>
            <a:pPr>
              <a:defRPr sz="1100">
                <a:solidFill>
                  <a:srgbClr val="A0A6B2"/>
                </a:solidFill>
                <a:latin typeface="Segoe UI"/>
              </a:defRPr>
            </a:pPr>
            <a:r>
              <a:t>Watching a 2-hour long YouTube computer engineering lecture yields 15,000 words of messy transcript. Manually finding relevant concepts, mapping formulas, and formatting study sheets takes 3-4 hours of extra labor.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0" y="1645920"/>
            <a:ext cx="6126480" cy="1280160"/>
          </a:xfrm>
          <a:prstGeom prst="roundRect">
            <a:avLst/>
          </a:prstGeom>
          <a:solidFill>
            <a:srgbClr val="161624"/>
          </a:solidFill>
          <a:ln>
            <a:solidFill>
              <a:srgbClr val="303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0" y="1737360"/>
            <a:ext cx="73152" cy="10972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1737360"/>
            <a:ext cx="57607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Unstructured 15,000+ Word Video Transcripts</a:t>
            </a:r>
          </a:p>
          <a:p>
            <a:pPr>
              <a:defRPr sz="1100">
                <a:solidFill>
                  <a:srgbClr val="A0A6B2"/>
                </a:solidFill>
                <a:latin typeface="Segoe UI"/>
              </a:defRPr>
            </a:pPr>
            <a:r>
              <a:t>YouTube educational lectures contain valuable teaching, but searching transcripts manually for formulas is tedious and exhaustively time-consuming.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0" y="3154680"/>
            <a:ext cx="6126480" cy="1280160"/>
          </a:xfrm>
          <a:prstGeom prst="roundRect">
            <a:avLst/>
          </a:prstGeom>
          <a:solidFill>
            <a:srgbClr val="161624"/>
          </a:solidFill>
          <a:ln>
            <a:solidFill>
              <a:srgbClr val="303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303520" y="3246120"/>
            <a:ext cx="73152" cy="10972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0" y="3246120"/>
            <a:ext cx="57607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Passive Scanning of 100+ Page Lecture PDFs</a:t>
            </a:r>
          </a:p>
          <a:p>
            <a:pPr>
              <a:defRPr sz="1100">
                <a:solidFill>
                  <a:srgbClr val="A0A6B2"/>
                </a:solidFill>
                <a:latin typeface="Segoe UI"/>
              </a:defRPr>
            </a:pPr>
            <a:r>
              <a:t>Dense PDFs and syllabi lack quick hierarchy. Passive reading does not create active memory links or prepare students for exams.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0" y="4663440"/>
            <a:ext cx="6126480" cy="1280160"/>
          </a:xfrm>
          <a:prstGeom prst="roundRect">
            <a:avLst/>
          </a:prstGeom>
          <a:solidFill>
            <a:srgbClr val="161624"/>
          </a:solidFill>
          <a:ln>
            <a:solidFill>
              <a:srgbClr val="303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303520" y="4754879"/>
            <a:ext cx="73152" cy="10972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0" y="4754879"/>
            <a:ext cx="57607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Mismatch with University Marking Schemes</a:t>
            </a:r>
          </a:p>
          <a:p>
            <a:pPr>
              <a:defRPr sz="1100">
                <a:solidFill>
                  <a:srgbClr val="A0A6B2"/>
                </a:solidFill>
                <a:latin typeface="Segoe UI"/>
              </a:defRPr>
            </a:pPr>
            <a:r>
              <a:t>Typical generic AI tools answer queries as standard text. They fail to format answers specifically designed to score a 2, 5, or 10-marks question.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THE SMART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StudySnap AI: The All-in-One Synthesis Suite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37560" cy="4389120"/>
          </a:xfrm>
          <a:prstGeom prst="roundRect">
            <a:avLst/>
          </a:prstGeom>
          <a:solidFill>
            <a:srgbClr val="161624"/>
          </a:solidFill>
          <a:ln w="12700">
            <a:solidFill>
              <a:srgbClr val="303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05840" y="1737360"/>
            <a:ext cx="278892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278892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800" b="1">
                <a:solidFill>
                  <a:srgbClr val="06B6D4"/>
                </a:solidFill>
                <a:latin typeface="Segoe UI"/>
              </a:defRPr>
            </a:pPr>
            <a:r>
              <a:t>01</a:t>
            </a:r>
          </a:p>
          <a:p>
            <a:pPr>
              <a:spcAft>
                <a:spcPts val="200"/>
              </a:spcAft>
              <a:defRPr sz="1800" b="1">
                <a:solidFill>
                  <a:srgbClr val="FFFFFF"/>
                </a:solidFill>
                <a:latin typeface="Segoe UI"/>
              </a:defRPr>
            </a:pPr>
            <a:r>
              <a:t>Smart Ingestion Engine</a:t>
            </a:r>
          </a:p>
          <a:p>
            <a:pPr>
              <a:spcAft>
                <a:spcPts val="1400"/>
              </a:spcAft>
              <a:defRPr sz="1100" b="1">
                <a:solidFill>
                  <a:srgbClr val="06B6D4"/>
                </a:solidFill>
                <a:latin typeface="Segoe UI"/>
              </a:defRPr>
            </a:pPr>
            <a:r>
              <a:t>YouTube Link &amp; PDF Extraction</a:t>
            </a:r>
          </a:p>
          <a:p>
            <a:pPr>
              <a:spcAft>
                <a:spcPts val="800"/>
              </a:spcAft>
              <a:defRPr sz="1100">
                <a:solidFill>
                  <a:srgbClr val="A0A6B2"/>
                </a:solidFill>
                <a:latin typeface="Segoe UI"/>
              </a:defRPr>
            </a:pPr>
            <a:r>
              <a:t>• Paste educational video links instantly.</a:t>
            </a:r>
          </a:p>
          <a:p>
            <a:pPr>
              <a:spcAft>
                <a:spcPts val="800"/>
              </a:spcAft>
              <a:defRPr sz="1100">
                <a:solidFill>
                  <a:srgbClr val="A0A6B2"/>
                </a:solidFill>
                <a:latin typeface="Segoe UI"/>
              </a:defRPr>
            </a:pPr>
            <a:r>
              <a:t>• Upload textbooks, notes, and lecture PDFs.</a:t>
            </a:r>
          </a:p>
          <a:p>
            <a:pPr>
              <a:spcAft>
                <a:spcPts val="800"/>
              </a:spcAft>
              <a:defRPr sz="1100">
                <a:solidFill>
                  <a:srgbClr val="A0A6B2"/>
                </a:solidFill>
                <a:latin typeface="Segoe UI"/>
              </a:defRPr>
            </a:pPr>
            <a:r>
              <a:t>• Extract structured concept nodes, core definitions, and formulas automatically.</a:t>
            </a:r>
          </a:p>
          <a:p>
            <a:pPr>
              <a:spcAft>
                <a:spcPts val="800"/>
              </a:spcAft>
              <a:defRPr sz="1100">
                <a:solidFill>
                  <a:srgbClr val="A0A6B2"/>
                </a:solidFill>
                <a:latin typeface="Segoe UI"/>
              </a:defRPr>
            </a:pPr>
            <a:r>
              <a:t>• Color-coded highlights for quick glance review.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645920"/>
            <a:ext cx="3337560" cy="4389120"/>
          </a:xfrm>
          <a:prstGeom prst="roundRect">
            <a:avLst/>
          </a:prstGeom>
          <a:solidFill>
            <a:srgbClr val="161624"/>
          </a:solidFill>
          <a:ln w="12700">
            <a:solidFill>
              <a:srgbClr val="303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700016" y="1737360"/>
            <a:ext cx="278892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0016" y="1920240"/>
            <a:ext cx="278892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800" b="1">
                <a:solidFill>
                  <a:srgbClr val="22C55E"/>
                </a:solidFill>
                <a:latin typeface="Segoe UI"/>
              </a:defRPr>
            </a:pPr>
            <a:r>
              <a:t>02</a:t>
            </a:r>
          </a:p>
          <a:p>
            <a:pPr>
              <a:spcAft>
                <a:spcPts val="200"/>
              </a:spcAft>
              <a:defRPr sz="1800" b="1">
                <a:solidFill>
                  <a:srgbClr val="FFFFFF"/>
                </a:solidFill>
                <a:latin typeface="Segoe UI"/>
              </a:defRPr>
            </a:pPr>
            <a:r>
              <a:t>Marks-wise Generation</a:t>
            </a:r>
          </a:p>
          <a:p>
            <a:pPr>
              <a:spcAft>
                <a:spcPts val="1400"/>
              </a:spcAft>
              <a:defRPr sz="1100" b="1">
                <a:solidFill>
                  <a:srgbClr val="22C55E"/>
                </a:solidFill>
                <a:latin typeface="Segoe UI"/>
              </a:defRPr>
            </a:pPr>
            <a:r>
              <a:t>Tailored Academic Formatting</a:t>
            </a:r>
          </a:p>
          <a:p>
            <a:pPr>
              <a:spcAft>
                <a:spcPts val="800"/>
              </a:spcAft>
              <a:defRPr sz="1100">
                <a:solidFill>
                  <a:srgbClr val="A0A6B2"/>
                </a:solidFill>
                <a:latin typeface="Segoe UI"/>
              </a:defRPr>
            </a:pPr>
            <a:r>
              <a:t>• Generates study guides matching grading systems.</a:t>
            </a:r>
          </a:p>
          <a:p>
            <a:pPr>
              <a:spcAft>
                <a:spcPts val="800"/>
              </a:spcAft>
              <a:defRPr sz="1100">
                <a:solidFill>
                  <a:srgbClr val="A0A6B2"/>
                </a:solidFill>
                <a:latin typeface="Segoe UI"/>
              </a:defRPr>
            </a:pPr>
            <a:r>
              <a:t>• Formats answers specifically for 2 marks (definitions).</a:t>
            </a:r>
          </a:p>
          <a:p>
            <a:pPr>
              <a:spcAft>
                <a:spcPts val="800"/>
              </a:spcAft>
              <a:defRPr sz="1100">
                <a:solidFill>
                  <a:srgbClr val="A0A6B2"/>
                </a:solidFill>
                <a:latin typeface="Segoe UI"/>
              </a:defRPr>
            </a:pPr>
            <a:r>
              <a:t>• Formats for 5 marks (structured comparisons).</a:t>
            </a:r>
          </a:p>
          <a:p>
            <a:pPr>
              <a:spcAft>
                <a:spcPts val="800"/>
              </a:spcAft>
              <a:defRPr sz="1100">
                <a:solidFill>
                  <a:srgbClr val="A0A6B2"/>
                </a:solidFill>
                <a:latin typeface="Segoe UI"/>
              </a:defRPr>
            </a:pPr>
            <a:r>
              <a:t>• Formats for 10 marks (detailed essays with subheaders).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645920"/>
            <a:ext cx="3337560" cy="4389120"/>
          </a:xfrm>
          <a:prstGeom prst="roundRect">
            <a:avLst/>
          </a:prstGeom>
          <a:solidFill>
            <a:srgbClr val="161624"/>
          </a:solidFill>
          <a:ln w="12700">
            <a:solidFill>
              <a:srgbClr val="303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394192" y="1737360"/>
            <a:ext cx="278892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94192" y="1920240"/>
            <a:ext cx="278892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2800" b="1">
                <a:solidFill>
                  <a:srgbClr val="6366F1"/>
                </a:solidFill>
                <a:latin typeface="Segoe UI"/>
              </a:defRPr>
            </a:pPr>
            <a:r>
              <a:t>03</a:t>
            </a:r>
          </a:p>
          <a:p>
            <a:pPr>
              <a:spcAft>
                <a:spcPts val="200"/>
              </a:spcAft>
              <a:defRPr sz="1800" b="1">
                <a:solidFill>
                  <a:srgbClr val="FFFFFF"/>
                </a:solidFill>
                <a:latin typeface="Segoe UI"/>
              </a:defRPr>
            </a:pPr>
            <a:r>
              <a:t>Active Recall Suite</a:t>
            </a:r>
          </a:p>
          <a:p>
            <a:pPr>
              <a:spcAft>
                <a:spcPts val="1400"/>
              </a:spcAft>
              <a:defRPr sz="1100" b="1">
                <a:solidFill>
                  <a:srgbClr val="6366F1"/>
                </a:solidFill>
                <a:latin typeface="Segoe UI"/>
              </a:defRPr>
            </a:pPr>
            <a:r>
              <a:t>Ruled Notebook &amp; Dynamic Quizzes</a:t>
            </a:r>
          </a:p>
          <a:p>
            <a:pPr>
              <a:spcAft>
                <a:spcPts val="800"/>
              </a:spcAft>
              <a:defRPr sz="1100">
                <a:solidFill>
                  <a:srgbClr val="A0A6B2"/>
                </a:solidFill>
                <a:latin typeface="Segoe UI"/>
              </a:defRPr>
            </a:pPr>
            <a:r>
              <a:t>• Realistic gel-pen cursive handwritten notes.</a:t>
            </a:r>
          </a:p>
          <a:p>
            <a:pPr>
              <a:spcAft>
                <a:spcPts val="800"/>
              </a:spcAft>
              <a:defRPr sz="1100">
                <a:solidFill>
                  <a:srgbClr val="A0A6B2"/>
                </a:solidFill>
                <a:latin typeface="Segoe UI"/>
              </a:defRPr>
            </a:pPr>
            <a:r>
              <a:t>• Print layouts styled for standard physical A4 paper.</a:t>
            </a:r>
          </a:p>
          <a:p>
            <a:pPr>
              <a:spcAft>
                <a:spcPts val="800"/>
              </a:spcAft>
              <a:defRPr sz="1100">
                <a:solidFill>
                  <a:srgbClr val="A0A6B2"/>
                </a:solidFill>
                <a:latin typeface="Segoe UI"/>
              </a:defRPr>
            </a:pPr>
            <a:r>
              <a:t>• Dynamic custom difficulty quizzes (Easy/Med/Hard).</a:t>
            </a:r>
          </a:p>
          <a:p>
            <a:pPr>
              <a:spcAft>
                <a:spcPts val="800"/>
              </a:spcAft>
              <a:defRPr sz="1100">
                <a:solidFill>
                  <a:srgbClr val="A0A6B2"/>
                </a:solidFill>
                <a:latin typeface="Segoe UI"/>
              </a:defRPr>
            </a:pPr>
            <a:r>
              <a:t>• Timezone-aware active study streaks and tracking.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TECHNICAL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Modern High-Performance Engineering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161624"/>
          </a:solidFill>
          <a:ln w="12700">
            <a:solidFill>
              <a:srgbClr val="303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783080"/>
            <a:ext cx="73152" cy="17373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466344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Core Frontend Stack</a:t>
            </a:r>
          </a:p>
          <a:p>
            <a:pPr>
              <a:spcAft>
                <a:spcPts val="1000"/>
              </a:spcAft>
              <a:defRPr sz="1100" b="1">
                <a:solidFill>
                  <a:srgbClr val="06B6D4"/>
                </a:solidFill>
                <a:latin typeface="Segoe UI"/>
              </a:defRPr>
            </a:pPr>
            <a:r>
              <a:t>Next.js 16 (App Router) • React 19 • TS</a:t>
            </a:r>
          </a:p>
          <a:p>
            <a:pPr>
              <a:defRPr sz="1100">
                <a:solidFill>
                  <a:srgbClr val="A0A6B2"/>
                </a:solidFill>
                <a:latin typeface="Segoe UI"/>
              </a:defRPr>
            </a:pPr>
            <a:r>
              <a:t>Built with the cutting-edge React 19 server-side architecture. Integrates full type-safety for reliable components and asynchronous server routes.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59" y="1645920"/>
            <a:ext cx="5120640" cy="2011680"/>
          </a:xfrm>
          <a:prstGeom prst="roundRect">
            <a:avLst/>
          </a:prstGeom>
          <a:solidFill>
            <a:srgbClr val="161624"/>
          </a:solidFill>
          <a:ln w="12700">
            <a:solidFill>
              <a:srgbClr val="303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09359" y="1783080"/>
            <a:ext cx="73152" cy="17373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79" y="1783080"/>
            <a:ext cx="466344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Premium Design System</a:t>
            </a:r>
          </a:p>
          <a:p>
            <a:pPr>
              <a:spcAft>
                <a:spcPts val="1000"/>
              </a:spcAft>
              <a:defRPr sz="1100" b="1">
                <a:solidFill>
                  <a:srgbClr val="6366F1"/>
                </a:solidFill>
                <a:latin typeface="Segoe UI"/>
              </a:defRPr>
            </a:pPr>
            <a:r>
              <a:t>Tailwind CSS v4 • Framer Motion • Lucide</a:t>
            </a:r>
          </a:p>
          <a:p>
            <a:pPr>
              <a:defRPr sz="1100">
                <a:solidFill>
                  <a:srgbClr val="A0A6B2"/>
                </a:solidFill>
                <a:latin typeface="Segoe UI"/>
              </a:defRPr>
            </a:pPr>
            <a:r>
              <a:t>Utilizes standard CSS modules layered with Tailwind v4 styling. Framer Motion provides high-fidelity, organic transitions and floating revision card behaviors.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161624"/>
          </a:solidFill>
          <a:ln w="12700">
            <a:solidFill>
              <a:srgbClr val="303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4069080"/>
            <a:ext cx="73152" cy="17373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069080"/>
            <a:ext cx="466344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Backend, DB &amp; Auth Layer</a:t>
            </a:r>
          </a:p>
          <a:p>
            <a:pPr>
              <a:spcAft>
                <a:spcPts val="1000"/>
              </a:spcAft>
              <a:defRPr sz="1100" b="1">
                <a:solidFill>
                  <a:srgbClr val="22C55E"/>
                </a:solidFill>
                <a:latin typeface="Segoe UI"/>
              </a:defRPr>
            </a:pPr>
            <a:r>
              <a:t>Supabase SSR Clients • Server Middleware</a:t>
            </a:r>
          </a:p>
          <a:p>
            <a:pPr>
              <a:defRPr sz="1100">
                <a:solidFill>
                  <a:srgbClr val="A0A6B2"/>
                </a:solidFill>
                <a:latin typeface="Segoe UI"/>
              </a:defRPr>
            </a:pPr>
            <a:r>
              <a:t>Supabase acts as the secure persistence and user auth plane, managing user profiles. Handled via custom cookies, protecting dashboard routes on server edge.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59" y="3931920"/>
            <a:ext cx="5120640" cy="2011680"/>
          </a:xfrm>
          <a:prstGeom prst="roundRect">
            <a:avLst/>
          </a:prstGeom>
          <a:solidFill>
            <a:srgbClr val="161624"/>
          </a:solidFill>
          <a:ln w="12700">
            <a:solidFill>
              <a:srgbClr val="303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59" y="4069080"/>
            <a:ext cx="73152" cy="173736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79" y="4069080"/>
            <a:ext cx="466344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Robust Local-First Resilience</a:t>
            </a:r>
          </a:p>
          <a:p>
            <a:pPr>
              <a:spcAft>
                <a:spcPts val="1000"/>
              </a:spcAft>
              <a:defRPr sz="1100" b="1">
                <a:solidFill>
                  <a:srgbClr val="EAB308"/>
                </a:solidFill>
                <a:latin typeface="Segoe UI"/>
              </a:defRPr>
            </a:pPr>
            <a:r>
              <a:t>Zero-Dependency Session &amp; Cache Fallback</a:t>
            </a:r>
          </a:p>
          <a:p>
            <a:pPr>
              <a:defRPr sz="1100">
                <a:solidFill>
                  <a:srgbClr val="A0A6B2"/>
                </a:solidFill>
                <a:latin typeface="Segoe UI"/>
              </a:defRPr>
            </a:pPr>
            <a:r>
              <a:t>Fallback mechanism: If database credentials aren't present, the app auto-spins a mock cookie session. Automatically saves study items on secure LocalStorage.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SYSTEM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The Seamless StudySnap AI Processing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423160" cy="4023360"/>
          </a:xfrm>
          <a:prstGeom prst="roundRect">
            <a:avLst/>
          </a:prstGeom>
          <a:solidFill>
            <a:srgbClr val="161624"/>
          </a:solidFill>
          <a:ln w="12700">
            <a:solidFill>
              <a:srgbClr val="303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05840" y="1920240"/>
            <a:ext cx="1874519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48840"/>
            <a:ext cx="196596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06B6D4"/>
                </a:solidFill>
                <a:latin typeface="Segoe UI"/>
              </a:defRPr>
            </a:pPr>
            <a:r>
              <a:t>01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Ingest Link or File</a:t>
            </a:r>
          </a:p>
          <a:p>
            <a:pPr>
              <a:defRPr sz="1150">
                <a:solidFill>
                  <a:srgbClr val="A0A6B2"/>
                </a:solidFill>
                <a:latin typeface="Segoe UI"/>
              </a:defRPr>
            </a:pPr>
            <a:r>
              <a:t>The user inputs a YouTube lecture URL or uploads educational PDFs. The files are securely streamed and parsed.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200400" y="3703320"/>
            <a:ext cx="237744" cy="274320"/>
          </a:xfrm>
          <a:prstGeom prst="rightArrow">
            <a:avLst/>
          </a:prstGeom>
          <a:solidFill>
            <a:srgbClr val="3C3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483863" y="1828800"/>
            <a:ext cx="2423160" cy="4023360"/>
          </a:xfrm>
          <a:prstGeom prst="roundRect">
            <a:avLst/>
          </a:prstGeom>
          <a:solidFill>
            <a:srgbClr val="161624"/>
          </a:solidFill>
          <a:ln w="12700">
            <a:solidFill>
              <a:srgbClr val="303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758183" y="1920240"/>
            <a:ext cx="1874519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2463" y="2148840"/>
            <a:ext cx="196596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6366F1"/>
                </a:solidFill>
                <a:latin typeface="Segoe UI"/>
              </a:defRPr>
            </a:pPr>
            <a:r>
              <a:t>02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AI Extraction</a:t>
            </a:r>
          </a:p>
          <a:p>
            <a:pPr>
              <a:defRPr sz="1150">
                <a:solidFill>
                  <a:srgbClr val="A0A6B2"/>
                </a:solidFill>
                <a:latin typeface="Segoe UI"/>
              </a:defRPr>
            </a:pPr>
            <a:r>
              <a:t>The AI model performs key concept mapping, transcription, and structures equations into distinct blocks.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952743" y="3703320"/>
            <a:ext cx="237744" cy="274320"/>
          </a:xfrm>
          <a:prstGeom prst="rightArrow">
            <a:avLst/>
          </a:prstGeom>
          <a:solidFill>
            <a:srgbClr val="3C3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36207" y="1828800"/>
            <a:ext cx="2423160" cy="4023360"/>
          </a:xfrm>
          <a:prstGeom prst="roundRect">
            <a:avLst/>
          </a:prstGeom>
          <a:solidFill>
            <a:srgbClr val="161624"/>
          </a:solidFill>
          <a:ln w="12700">
            <a:solidFill>
              <a:srgbClr val="303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10527" y="1920240"/>
            <a:ext cx="1874519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7" y="2148840"/>
            <a:ext cx="196596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22C55E"/>
                </a:solidFill>
                <a:latin typeface="Segoe UI"/>
              </a:defRPr>
            </a:pPr>
            <a:r>
              <a:t>03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Interactive revision</a:t>
            </a:r>
          </a:p>
          <a:p>
            <a:pPr>
              <a:defRPr sz="1150">
                <a:solidFill>
                  <a:srgbClr val="A0A6B2"/>
                </a:solidFill>
                <a:latin typeface="Segoe UI"/>
              </a:defRPr>
            </a:pPr>
            <a:r>
              <a:t>The dashboard populates mock quizzes, dynamic sticky notes, and active study cards categorized by subject.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705088" y="3703320"/>
            <a:ext cx="237744" cy="274320"/>
          </a:xfrm>
          <a:prstGeom prst="rightArrow">
            <a:avLst/>
          </a:prstGeom>
          <a:solidFill>
            <a:srgbClr val="3C3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988552" y="1828800"/>
            <a:ext cx="2423160" cy="4023360"/>
          </a:xfrm>
          <a:prstGeom prst="roundRect">
            <a:avLst/>
          </a:prstGeom>
          <a:solidFill>
            <a:srgbClr val="161624"/>
          </a:solidFill>
          <a:ln w="12700">
            <a:solidFill>
              <a:srgbClr val="303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262872" y="1920240"/>
            <a:ext cx="1874519" cy="54864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17152" y="2148840"/>
            <a:ext cx="196596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EAB308"/>
                </a:solidFill>
                <a:latin typeface="Segoe UI"/>
              </a:defRPr>
            </a:pPr>
            <a:r>
              <a:t>04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Physical Ruled Export</a:t>
            </a:r>
          </a:p>
          <a:p>
            <a:pPr>
              <a:defRPr sz="1150">
                <a:solidFill>
                  <a:srgbClr val="A0A6B2"/>
                </a:solidFill>
                <a:latin typeface="Segoe UI"/>
              </a:defRPr>
            </a:pPr>
            <a:r>
              <a:t>The CSS print layout filters navigation sidebars, leaving clean A4 ruled paper sheets ready to print out.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WHAT IS NEW &amp; HELPFUL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Unique Academic Value &amp; Student Centered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61624"/>
          </a:solidFill>
          <a:ln w="12700">
            <a:solidFill>
              <a:srgbClr val="303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09728" cy="43891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438912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FFFFFF"/>
                </a:solidFill>
                <a:latin typeface="Segoe UI"/>
              </a:defRPr>
            </a:pPr>
            <a:r>
              <a:t>Seamless Deployment &amp; Performance</a:t>
            </a:r>
          </a:p>
          <a:p>
            <a:pPr>
              <a:spcAft>
                <a:spcPts val="2000"/>
              </a:spcAft>
              <a:defRPr sz="1100" b="1">
                <a:solidFill>
                  <a:srgbClr val="06B6D4"/>
                </a:solidFill>
                <a:latin typeface="Segoe UI"/>
              </a:defRPr>
            </a:pPr>
            <a:r>
              <a:t>Zero-dependency session layer designed for developers and instant user trials.</a:t>
            </a:r>
          </a:p>
          <a:p>
            <a:pPr>
              <a:spcAft>
                <a:spcPts val="4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🚀 Hybrid Local-Supabase Middleware</a:t>
            </a:r>
          </a:p>
          <a:p>
            <a:pPr>
              <a:spcAft>
                <a:spcPts val="1600"/>
              </a:spcAft>
              <a:defRPr sz="1100">
                <a:solidFill>
                  <a:srgbClr val="A0A6B2"/>
                </a:solidFill>
                <a:latin typeface="Segoe UI"/>
              </a:defRPr>
            </a:pPr>
            <a:r>
              <a:t>If Supabase isn't configured, the system gracefully operates on browser cookie mock sessions and LocalStorage without throwing configuration crashes.</a:t>
            </a:r>
          </a:p>
          <a:p>
            <a:pPr>
              <a:spcAft>
                <a:spcPts val="4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🚀 Self-Healing Learning Analytics</a:t>
            </a:r>
          </a:p>
          <a:p>
            <a:pPr>
              <a:spcAft>
                <a:spcPts val="1600"/>
              </a:spcAft>
              <a:defRPr sz="1100">
                <a:solidFill>
                  <a:srgbClr val="A0A6B2"/>
                </a:solidFill>
                <a:latin typeface="Segoe UI"/>
              </a:defRPr>
            </a:pPr>
            <a:r>
              <a:t>Automatically filters and recalculates mock study streaks and true quiz averages when user profiles change, preventing dev average overrides from corrupting real student study metrics.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61624"/>
          </a:solidFill>
          <a:ln w="12700">
            <a:solidFill>
              <a:srgbClr val="303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09360" y="1645920"/>
            <a:ext cx="109728" cy="43891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920240"/>
            <a:ext cx="438912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Physical-Digital Bridging</a:t>
            </a:r>
          </a:p>
          <a:p>
            <a:pPr>
              <a:spcAft>
                <a:spcPts val="2000"/>
              </a:spcAft>
              <a:defRPr sz="1100" b="1">
                <a:solidFill>
                  <a:srgbClr val="22C55E"/>
                </a:solidFill>
                <a:latin typeface="Segoe UI"/>
              </a:defRPr>
            </a:pPr>
            <a:r>
              <a:t>Bringing digital summaries back to natural notebook sheets.</a:t>
            </a:r>
          </a:p>
          <a:p>
            <a:pPr>
              <a:spcAft>
                <a:spcPts val="4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📝 Realistic Ruled CSS Print Engines</a:t>
            </a:r>
          </a:p>
          <a:p>
            <a:pPr>
              <a:spcAft>
                <a:spcPts val="1600"/>
              </a:spcAft>
              <a:defRPr sz="1100">
                <a:solidFill>
                  <a:srgbClr val="A0A6B2"/>
                </a:solidFill>
                <a:latin typeface="Segoe UI"/>
              </a:defRPr>
            </a:pPr>
            <a:r>
              <a:t>Supports real standard A4 size paper formatting with built-in printing styles. The interface automatically strips menus and sidebars, yielding pristine physical handwriting paper.</a:t>
            </a:r>
          </a:p>
          <a:p>
            <a:pPr>
              <a:spcAft>
                <a:spcPts val="4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📝 Marks-wise Specific Structuring</a:t>
            </a:r>
          </a:p>
          <a:p>
            <a:pPr>
              <a:spcAft>
                <a:spcPts val="1600"/>
              </a:spcAft>
              <a:defRPr sz="1100">
                <a:solidFill>
                  <a:srgbClr val="A0A6B2"/>
                </a:solidFill>
                <a:latin typeface="Segoe UI"/>
              </a:defRPr>
            </a:pPr>
            <a:r>
              <a:t>Provides direct academic answers formatted for 2, 5, or 10 marks. Helps students master exams without having to compress or expand general text queries manually.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Segoe UI"/>
              </a:defRPr>
            </a:pPr>
            <a:r>
              <a:t>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Future Roadmap: Expanding StudySnap AI Capabilities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161624"/>
          </a:solidFill>
          <a:ln w="12700">
            <a:solidFill>
              <a:srgbClr val="303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457200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6B6D4"/>
                </a:solidFill>
                <a:latin typeface="Segoe UI"/>
              </a:defRPr>
            </a:pPr>
            <a:r>
              <a:t>[01]  Collaborative Class Study Rooms</a:t>
            </a:r>
          </a:p>
          <a:p>
            <a:pPr>
              <a:defRPr sz="1100">
                <a:solidFill>
                  <a:srgbClr val="A0A6B2"/>
                </a:solidFill>
                <a:latin typeface="Segoe UI"/>
              </a:defRPr>
            </a:pPr>
            <a:r>
              <a:t>Realtime group study hubs where multiple students can pool lecture videos, sync sticky revision notes, share custom mock tests, and vote on highest-yield questions.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59" y="1645920"/>
            <a:ext cx="5120640" cy="2011680"/>
          </a:xfrm>
          <a:prstGeom prst="roundRect">
            <a:avLst/>
          </a:prstGeom>
          <a:solidFill>
            <a:srgbClr val="161624"/>
          </a:solidFill>
          <a:ln w="12700">
            <a:solidFill>
              <a:srgbClr val="303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79" y="1783080"/>
            <a:ext cx="457200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6366F1"/>
                </a:solidFill>
                <a:latin typeface="Segoe UI"/>
              </a:defRPr>
            </a:pPr>
            <a:r>
              <a:t>[02]  Live Classroom Audio Ingestion</a:t>
            </a:r>
          </a:p>
          <a:p>
            <a:pPr>
              <a:defRPr sz="1100">
                <a:solidFill>
                  <a:srgbClr val="A0A6B2"/>
                </a:solidFill>
                <a:latin typeface="Segoe UI"/>
              </a:defRPr>
            </a:pPr>
            <a:r>
              <a:t>Mobilized browser recording utility. Students can record live in-person university lectures; the engine automatically captures the audio, filters noise, and maps it directly to the dashboard.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161624"/>
          </a:solidFill>
          <a:ln w="12700">
            <a:solidFill>
              <a:srgbClr val="303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069080"/>
            <a:ext cx="457200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22C55E"/>
                </a:solidFill>
                <a:latin typeface="Segoe UI"/>
              </a:defRPr>
            </a:pPr>
            <a:r>
              <a:t>[03]  Global Academic Translations</a:t>
            </a:r>
          </a:p>
          <a:p>
            <a:pPr>
              <a:defRPr sz="1100">
                <a:solidFill>
                  <a:srgbClr val="A0A6B2"/>
                </a:solidFill>
                <a:latin typeface="Segoe UI"/>
              </a:defRPr>
            </a:pPr>
            <a:r>
              <a:t>Breaking down regional learning barriers. Translates synthesized study outlines, formulas, and mock quizzes into 20+ regional languages with custom technical terminologies.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3931920"/>
            <a:ext cx="5120640" cy="2011680"/>
          </a:xfrm>
          <a:prstGeom prst="roundRect">
            <a:avLst/>
          </a:prstGeom>
          <a:solidFill>
            <a:srgbClr val="161624"/>
          </a:solidFill>
          <a:ln w="12700">
            <a:solidFill>
              <a:srgbClr val="303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79" y="4069080"/>
            <a:ext cx="457200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EAB308"/>
                </a:solidFill>
                <a:latin typeface="Segoe UI"/>
              </a:defRPr>
            </a:pPr>
            <a:r>
              <a:t>[04]  Library-Wide Semantic RAG Search</a:t>
            </a:r>
          </a:p>
          <a:p>
            <a:pPr>
              <a:defRPr sz="1100">
                <a:solidFill>
                  <a:srgbClr val="A0A6B2"/>
                </a:solidFill>
                <a:latin typeface="Segoe UI"/>
              </a:defRPr>
            </a:pPr>
            <a:r>
              <a:t>Vector database indexing across all compiled study notes. Students can run complex natural language queries across their entire history of PDFs and lecture recordings.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371600"/>
            <a:ext cx="10728655" cy="4114800"/>
          </a:xfrm>
          <a:prstGeom prst="roundRect">
            <a:avLst/>
          </a:prstGeom>
          <a:solidFill>
            <a:srgbClr val="161624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37160" cy="41148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828800"/>
            <a:ext cx="86868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400"/>
              </a:spcAft>
              <a:defRPr sz="1100" b="1">
                <a:solidFill>
                  <a:srgbClr val="22C55E"/>
                </a:solidFill>
                <a:latin typeface="Segoe UI"/>
              </a:defRPr>
            </a:pPr>
            <a:r>
              <a:t>⚡ STUDY SMARTER, NOT HARDER</a:t>
            </a:r>
          </a:p>
          <a:p>
            <a:pPr>
              <a:spcAft>
                <a:spcPts val="1000"/>
              </a:spcAft>
              <a:defRPr sz="5600" b="1">
                <a:solidFill>
                  <a:srgbClr val="FFFFFF"/>
                </a:solidFill>
                <a:latin typeface="Segoe UI"/>
              </a:defRPr>
            </a:pPr>
            <a:r>
              <a:t>Thank You!</a:t>
            </a:r>
          </a:p>
          <a:p>
            <a:pPr>
              <a:spcAft>
                <a:spcPts val="3600"/>
              </a:spcAft>
              <a:defRPr sz="1800">
                <a:solidFill>
                  <a:srgbClr val="A0A6B2"/>
                </a:solidFill>
                <a:latin typeface="Segoe UI"/>
              </a:defRPr>
            </a:pPr>
            <a:r>
              <a:t>Empowering students worldwide with state-of-the-art visual active-recall tools.</a:t>
            </a:r>
          </a:p>
          <a:p>
            <a:pPr>
              <a:defRPr sz="1200" b="1">
                <a:solidFill>
                  <a:srgbClr val="06B6D4"/>
                </a:solidFill>
                <a:latin typeface="Segoe UI"/>
              </a:defRPr>
            </a:pPr>
            <a:r>
              <a:t>Start Using StudySnap AI Today • Ace Your University Exams with Ease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